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164592" cy="59436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515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Music Wrapped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Calibri"/>
              </a:rPr>
              <a:t>An interactive music-discovery system with K-means personality archetypes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Calibri"/>
              </a:rPr>
              <a:t>and cosine-similarity recommendations.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Jesse Boakye  ·  Kenneth Son  ·  Luis Zarate  ·  Ralph Lewis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8B0"/>
                </a:solidFill>
                <a:latin typeface="Calibri"/>
              </a:rPr>
              <a:t>CPTS 315 — Data Mining   ·   Spring 2026   ·   Washington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109728" cy="5029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Beyond "top 10 similar songs"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Why pair a content-based recommender with a Wrapped-style report?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676656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•  Most class-project recommenders stop at a ranked list of similar songs.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•  Spotify Wrapped became a cultural moment because the presentation of audio analytics is engaging — not because the underlying recommender is novel.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•  We pair a content-based recommender with a six-slide "Wrapped" report — mood, archetype, audio DNA, recs, hidden gems.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•  Forces a complete data-mining pipeline: preprocessing, EDA, clustering, similarity, evaluation.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691640"/>
            <a:ext cx="393192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691640"/>
            <a:ext cx="73152" cy="42976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828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Calibri"/>
              </a:rPr>
              <a:t>STATEMENT OF THE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240280"/>
            <a:ext cx="3566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Can a content-based system using K-means archetypes and cosine-similarity ranking produce a recommendation experience that 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703320"/>
            <a:ext cx="356616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•  algorithmically defensible — better than random on standard offline metrics?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•  interpretable to a non-technical audience?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•  worth shipping as an interactive demo?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109728" cy="5029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Dataset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Spotify Music Dataset (Kaggle) — static catalog, no API calls, content-based by necessity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423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73152" cy="14173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240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200" b="1">
                <a:solidFill>
                  <a:srgbClr val="1DB954"/>
                </a:solidFill>
                <a:latin typeface="Calibri"/>
              </a:rPr>
              <a:t>4,494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tracks after dedupe + clean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691640"/>
            <a:ext cx="2423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1691640"/>
            <a:ext cx="73152" cy="14173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783080"/>
            <a:ext cx="2240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200" b="1">
                <a:solidFill>
                  <a:srgbClr val="1DB954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060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shared audio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691640"/>
            <a:ext cx="2423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1691640"/>
            <a:ext cx="73152" cy="14173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783080"/>
            <a:ext cx="2240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200" b="1">
                <a:solidFill>
                  <a:srgbClr val="1DB954"/>
                </a:solidFill>
                <a:latin typeface="Calibri"/>
              </a:rPr>
              <a:t>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060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playlist-source genres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91640"/>
            <a:ext cx="24231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691640"/>
            <a:ext cx="73152" cy="14173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783080"/>
            <a:ext cx="2240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200" b="1">
                <a:solidFill>
                  <a:srgbClr val="1DB954"/>
                </a:solidFill>
                <a:latin typeface="Calibri"/>
              </a:rPr>
              <a:t>~20 KB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060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persisted personality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Calibri"/>
              </a:rPr>
              <a:t>MODELING FEATURES (MIN-MAX SCALED)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danceability  ·  energy  ·  valence  ·  acousticness  ·  instrumentalness  ·  speechiness  ·  tempo  ·  loudness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Calibri"/>
              </a:rPr>
              <a:t>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•  Python · pandas · NumPy · scikit-learn  —  preprocessing, K-means, PCA, cosine similarity, silhouette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•  matplotlib · seaborn  —  EDA + report figures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•  Streamlit · Plotly  —  interactive single-page demo with cached data + artifact loading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•  joblib  —  persists scaler + KMeans + label map (`personality_v1.joblib`, ~20 KB)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109728" cy="5029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Seven phases — every stage feeds a Wrapped slide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64792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Preprocess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764792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Concat 2 CSVs · dedupe by track_id · MinMax scale 8 features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86584"/>
            <a:ext cx="457200" cy="45720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68296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68296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Distributions · correlations · genre balance · mood quadrants · PCA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7180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71800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K-means K=2..10 · two tracks (raw vs PCA-6) · pick K=6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593592"/>
            <a:ext cx="457200" cy="45720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75304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Recommend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575304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User profile = mean(seed) · cosine sim · α=0.95 popularity blend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78808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Mood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178808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Rule-based valence/energy thresholds (0.6 high / 0.35 low)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782312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Hidden gems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782312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Top-decile similar · adaptive popularity ceiling · disjoint from recs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404104"/>
            <a:ext cx="457200" cy="45720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385816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385816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Streamlit single-page app · 6 sequential Wrapped slides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109728" cy="5029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EDA findings shaped the rest of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Three decisions came directly from looking at the data</a:t>
            </a:r>
          </a:p>
        </p:txBody>
      </p:sp>
      <p:pic>
        <p:nvPicPr>
          <p:cNvPr id="6" name="Picture 5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120640" cy="46006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943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Audio feature correlations (8×8)</a:t>
            </a:r>
          </a:p>
        </p:txBody>
      </p:sp>
      <p:sp>
        <p:nvSpPr>
          <p:cNvPr id="8" name="Oval 7"/>
          <p:cNvSpPr/>
          <p:nvPr/>
        </p:nvSpPr>
        <p:spPr>
          <a:xfrm>
            <a:off x="5852160" y="1691640"/>
            <a:ext cx="457200" cy="45720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7335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Strong feature redundancy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75688"/>
            <a:ext cx="52120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energy ↔ loudness ρ = 0.80 · acousticness ↔ energy ρ = -0.76. Six PCA components hit 95% variance — motivates the PCA-vs-original clustering experiment.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0" y="3108960"/>
            <a:ext cx="457200" cy="45720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90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Genre-skewed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93008"/>
            <a:ext cx="52120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Top 7 genres hold 300–560 tracks; sparse genres (disco, soca, mandopop) under 30. Bucketed into "other" for evaluation to avoid tiny-sample noise.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4526280"/>
            <a:ext cx="457200" cy="45720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0799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Mood threshold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910328"/>
            <a:ext cx="52120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Valence × energy quadrants populated, but the textbook 0.5 split left low-energy/high-valence sparse. Retuned to high ≥ 0.6, low-valence &lt; 0.35.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109728" cy="5029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Choosing K — two-track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K-means on original 8 features (Track A) vs 6-component PCA (Track B), K = 2..10</a:t>
            </a:r>
          </a:p>
        </p:txBody>
      </p:sp>
      <p:pic>
        <p:nvPicPr>
          <p:cNvPr id="6" name="Picture 5" descr="kmeans_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858000" cy="21582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34924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Elbow + silhouette across K. Highlighted band = demo target K ∈ [5, 8].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691640"/>
            <a:ext cx="39319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691640"/>
            <a:ext cx="73152" cy="457200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82880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Calibri"/>
              </a:rPr>
              <a:t>DECISION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240280"/>
            <a:ext cx="356616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•  Pure silhouette peaks at K=2 — useless for archetype labels.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•  Restrict to K ∈ [5, 8] (plan target).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•  Drop any K with a cluster &lt; 2% of catalog.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•  Pick highest silhouette in the band.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Calibri"/>
              </a:rPr>
              <a:t>•  If two tracks within 0.02 silhouette: prefer Track A for interpretability.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61772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Calibri"/>
              </a:rPr>
              <a:t>WINNER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93776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K = 6,  Track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48640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Silhouette 0.252 ± 0.0001 across 5 random seeds — stable.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59436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Six music personality archetypes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Manual labels driven by centroid feature profiles + per-cluster top-genre composition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275" y="1691640"/>
            <a:ext cx="3703320" cy="2331720"/>
          </a:xfrm>
          <a:prstGeom prst="rect">
            <a:avLst/>
          </a:prstGeom>
          <a:solidFill>
            <a:srgbClr val="1B222A"/>
          </a:solidFill>
          <a:ln w="6350">
            <a:solidFill>
              <a:srgbClr val="333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6275" y="1691640"/>
            <a:ext cx="73152" cy="23317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595" y="18745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95" y="21945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Lofi Wanderer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95" y="2788920"/>
            <a:ext cx="3291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high acoustic + instrumental, low energy. Lofi · jazz · world.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4187" y="1691640"/>
            <a:ext cx="3703320" cy="2331720"/>
          </a:xfrm>
          <a:prstGeom prst="rect">
            <a:avLst/>
          </a:prstGeom>
          <a:solidFill>
            <a:srgbClr val="1B222A"/>
          </a:solidFill>
          <a:ln w="6350">
            <a:solidFill>
              <a:srgbClr val="333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4187" y="1691640"/>
            <a:ext cx="73152" cy="23317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507" y="18745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507" y="21945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Night Driver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8507" y="2788920"/>
            <a:ext cx="3291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low-acoustic, high-energy, low-valence. Moody mainstream.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2099" y="1691640"/>
            <a:ext cx="3703320" cy="2331720"/>
          </a:xfrm>
          <a:prstGeom prst="rect">
            <a:avLst/>
          </a:prstGeom>
          <a:solidFill>
            <a:srgbClr val="1B222A"/>
          </a:solidFill>
          <a:ln w="6350">
            <a:solidFill>
              <a:srgbClr val="333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2099" y="1691640"/>
            <a:ext cx="73152" cy="23317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419" y="18745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6419" y="21945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Life of the Party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419" y="2788920"/>
            <a:ext cx="3291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highest danceability + valence + energy. Latin · pop · hip-hop.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6275" y="4187952"/>
            <a:ext cx="3703320" cy="2331720"/>
          </a:xfrm>
          <a:prstGeom prst="rect">
            <a:avLst/>
          </a:prstGeom>
          <a:solidFill>
            <a:srgbClr val="1B222A"/>
          </a:solidFill>
          <a:ln w="6350">
            <a:solidFill>
              <a:srgbClr val="333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275" y="4187952"/>
            <a:ext cx="73152" cy="23317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595" y="43708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95" y="469087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Old Soul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95" y="5285232"/>
            <a:ext cx="3291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very low energy, very high acoustic + instrumental. Wellness · classical · ambient.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4187" y="4187952"/>
            <a:ext cx="3703320" cy="2331720"/>
          </a:xfrm>
          <a:prstGeom prst="rect">
            <a:avLst/>
          </a:prstGeom>
          <a:solidFill>
            <a:srgbClr val="1B222A"/>
          </a:solidFill>
          <a:ln w="6350">
            <a:solidFill>
              <a:srgbClr val="333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44187" y="4187952"/>
            <a:ext cx="73152" cy="23317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8507" y="43708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8507" y="469087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Sonic Architect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8507" y="5285232"/>
            <a:ext cx="3291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electronic instrumentals · deep house. "Here for the production, not the lyrics."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2099" y="4187952"/>
            <a:ext cx="3703320" cy="2331720"/>
          </a:xfrm>
          <a:prstGeom prst="rect">
            <a:avLst/>
          </a:prstGeom>
          <a:solidFill>
            <a:srgbClr val="1B222A"/>
          </a:solidFill>
          <a:ln w="6350">
            <a:solidFill>
              <a:srgbClr val="333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2099" y="4187952"/>
            <a:ext cx="73152" cy="23317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6419" y="43708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6419" y="469087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Acoustic Storyteller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419" y="5285232"/>
            <a:ext cx="3291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vocal acoustic mid-tempo. Latin · ambient · pop classics.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0A8B0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109728" cy="5029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Recommendation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Cosine similarity to the user's average profile, with a small popularity nudge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73152" cy="228600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Calibri"/>
              </a:rPr>
              <a:t>BLENDED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29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onsolas"/>
              </a:rPr>
              <a:t>final(t) = α · cos(t, x̄)  +  (1-α) · pop(t)/100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x̄ = mean of seed audio features  ·  cos = cosine similarity  ·  pop = Spotify popularity in [0,100]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DB954"/>
                </a:solidFill>
                <a:latin typeface="Calibri"/>
              </a:rPr>
              <a:t>α = 0.95</a:t>
            </a:r>
          </a:p>
        </p:txBody>
      </p:sp>
      <p:pic>
        <p:nvPicPr>
          <p:cNvPr id="12" name="Picture 11" descr="alph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212080" cy="28926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507492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Genre consistency vs α — focused users lose 47% relevance going 1.0 → 0.85.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Why α = 0.95 (not the textbook 0.85):  alpha sweep showed α=0.85 cuts genre consistency from 0.16 to 0.08 for focused users — a 47% loss. α=0.95 keeps a small popularity nudge for cold-start without crushing relevance.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109728" cy="5029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Streamlit demo: six Wrapped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`streamlit run app/streamlit_app.py` — single-file, single-page, sticky picker at 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143" y="169164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3143" y="1691640"/>
            <a:ext cx="73152" cy="22402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7463" y="19202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Calibri"/>
              </a:rPr>
              <a:t>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463" y="224028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Music in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463" y="2834640"/>
            <a:ext cx="3246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Counts, top genres, top artists from the user's selection.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047" y="169164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7047" y="1691640"/>
            <a:ext cx="73152" cy="22402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1367" y="19202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Calibri"/>
              </a:rPr>
              <a:t>SLIDE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224028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Your Mood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2834640"/>
            <a:ext cx="3246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Mood label + valence/energy scatter against catalog backdrop.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0951" y="169164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0951" y="1691640"/>
            <a:ext cx="73152" cy="22402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5271" y="19202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Calibri"/>
              </a:rPr>
              <a:t>SLIDE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5271" y="224028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Music Personality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5271" y="2834640"/>
            <a:ext cx="3246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Archetype label + cluster centroid radar.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143" y="411480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143" y="4114800"/>
            <a:ext cx="73152" cy="22402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463" y="434340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Calibri"/>
              </a:rPr>
              <a:t>SLIDE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463" y="46634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Audio DNA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463" y="5257800"/>
            <a:ext cx="3246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User profile vs. catalog mean — dual radar.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7047" y="411480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7047" y="4114800"/>
            <a:ext cx="73152" cy="22402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1367" y="434340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Calibri"/>
              </a:rPr>
              <a:t>SLIDE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1367" y="46634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Top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1367" y="5257800"/>
            <a:ext cx="3246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Ranked table with similarity progress bars.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0951" y="4114800"/>
            <a:ext cx="36576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0951" y="4114800"/>
            <a:ext cx="73152" cy="22402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5271" y="434340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Calibri"/>
              </a:rPr>
              <a:t>SLIDE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5271" y="46634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Hidden Gems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5271" y="5257800"/>
            <a:ext cx="3246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Lower-popularity matches with similarity + popularity bars.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Catalog + personality artifact loaded once via @st.cache_resource · per-track genre hidden from rec/gems tables (dataset's playlist_genre is noisy)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109728" cy="5029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Evaluation — leave-one-out + metric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200 simulated users × 5 seeds = 1,000 LOO trials per strategy</a:t>
            </a:r>
          </a:p>
        </p:txBody>
      </p:sp>
      <p:pic>
        <p:nvPicPr>
          <p:cNvPr id="6" name="Picture 5" descr="loo_hit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669280" cy="2793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07492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Hit Rate @ K (log scale) — genre-coherent vs random vs baseline.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91640"/>
            <a:ext cx="51206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691640"/>
            <a:ext cx="73152" cy="457200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Calibri"/>
              </a:rPr>
              <a:t>HEADLINE NUMBERS  —  GENRE-COHERENT SEEDS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860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Hit @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4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DB954"/>
                </a:solidFill>
                <a:latin typeface="Calibri"/>
              </a:rPr>
              <a:t>1.6%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33172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8× random baseline (0.2%)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46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Median rank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56616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DB954"/>
                </a:solidFill>
                <a:latin typeface="Calibri"/>
              </a:rPr>
              <a:t>950 / 4,494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29184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2.4× better than random (2,247)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206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MRR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52628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DB954"/>
                </a:solidFill>
                <a:latin typeface="Calibri"/>
              </a:rPr>
              <a:t>0.0104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425196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vs ~0.001 for random seeds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166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Recovered similarity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48640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DB954"/>
                </a:solidFill>
                <a:latin typeface="Calibri"/>
              </a:rPr>
              <a:t>0.936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521208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rank inflation = dataset density, not model failure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109728" cy="5029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Cosine vs Euclidean — closing Phase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Same 1,000 LOO trials, two ranking metrics</a:t>
            </a:r>
          </a:p>
        </p:txBody>
      </p:sp>
      <p:pic>
        <p:nvPicPr>
          <p:cNvPr id="6" name="Picture 5" descr="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943600" cy="29282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2120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Hit Rate @ K (log scale) — cosine and Euclidean track closely.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691640"/>
            <a:ext cx="48463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1691640"/>
            <a:ext cx="73152" cy="457200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8288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Calibri"/>
              </a:rPr>
              <a:t>WINNERS BY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2860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2860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Calibri"/>
              </a:rPr>
              <a:t>cosine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2860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euclidean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22860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winner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7432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Hit @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743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  <a:latin typeface="Calibri"/>
              </a:rPr>
              <a:t>0.012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743200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0.010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27432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cosine +20%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2461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Hit @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2461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  <a:latin typeface="Calibri"/>
              </a:rPr>
              <a:t>0.016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246120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0.014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32461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cosine +14%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7490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7490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  <a:latin typeface="Calibri"/>
              </a:rPr>
              <a:t>0.0104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749040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0.0094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7490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cosine +11%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25196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Hit @ 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2519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  <a:latin typeface="Calibri"/>
              </a:rPr>
              <a:t>0.066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251960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0.072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425196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euclidean +9%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7548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Median rank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7548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  <a:latin typeface="Calibri"/>
              </a:rPr>
              <a:t>951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754880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989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47548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cosine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57784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Calibri"/>
              </a:rPr>
              <a:t>Decision: keep cosine. Precision wins where users actually look (top of the list), and the directional-similarity story is cleaner.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59436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Limitations · future work ·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Calibri"/>
              </a:rPr>
              <a:t>WHAT'S HONEST ABOUT THE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48640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•  No user behavior data — content-based by necessity.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•  Dataset density: 4,494 tracks in [0,1]⁸ make absolute Hit@10 small (~1.6%).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•  playlist_genre is noisy — the same song appears under different labels per source playlist. Hidden from per-track display.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•  K-means and cosine treat all 8 features equally.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Calibri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21208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•  Weighted cosine — variance-inverse over the seed selection.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•  GMM personality — soft labels ("60% Night Driver, 30% Lofi Wanderer").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•  Mood trajectory playlists — calm → upbeat sequencing.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•  Popularity-residual hidden gems via regression.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•  Live Spotify API integration with 30s previews.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Thank you  · 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DB954"/>
                </a:solidFill>
                <a:latin typeface="Calibri"/>
              </a:rPr>
              <a:t>github.com/jesseboakye/315FinalProject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